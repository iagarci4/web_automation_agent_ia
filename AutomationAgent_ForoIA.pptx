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lang="es-MX" sz="1400" b="0" i="0" u="none" strike="noStrike">
                <a:solidFill>
                  <a:srgbClr val="1E2761"/>
                </a:solidFill>
                <a:latin typeface="Cambria"/>
              </a:rPr>
              <a:t>Combinaciones automatizables por país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Casos cubiertos (aprox.)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México</c:v>
                </c:pt>
                <c:pt idx="1">
                  <c:v>Colombia</c:v>
                </c:pt>
                <c:pt idx="2">
                  <c:v>Próximos países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60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63-43AE-912B-5A7915B385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0908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AutomationAgent: agente de QA que automatiza la plataforma de transferencias HERMES 2. Se opera por lenguaje natural, usa Page Object Model y es data-driven. Objetivo de hoy: mostrar cómo ahorra tiempo, amplía cobertura y da estabilidad.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de partida: QA manual de transferencias es lento (10-15 min por caso), no alcanza a cubrir todas las combinaciones, se repite en cada deploy y es frágil ante cambios de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solución en 4 pilares: lenguaje natural, Page Object Model, data-driven y auto-estabilidad. Esto es lo que lo hace rápido de operar y barato de mantener.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Flujo: instrucción en lenguaje natural → Brain la interpreta en un plan → Executor corre pytest y guarda evidencias → el POM sobre Playwright maneja el navegador real. Todo en Python/pytest, data-driven, con registry que autodescubre nuevos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POM = Page Object Model. En vez de repetir selectores en cada test, se centralizan en BasePage y en un Page Object por pantalla. Beneficio clave: un cambio de UI se arregla en un solo lugar, no en decenas de tests. smart_click es un clic adaptativo que desambigua y tolera cambios de idioma.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de operación: se le habla en español o inglés. El agente detecta idioma, tipo de envío, cancelación, país y pagador, y elige el test. Funciona offline (aprende por memoria) y opcionalmente con Claude. El registry suma cada test nuevo automáticamente.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se separa en tres módulos que comparten el mismo motor: Aleatorios (exploratorio, datos random), Etiquetas de deploy (validaciones de tickets Jira que gatillan el pase a producción), y Sanity (humo rápido, en construcción).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escalabilidad viene de ser data-driven: cada país es un JSON de pagadores con sus reglas. Agregar un pagador son ~6 líneas de JSON, cero código. Ya están México y Colombia; el mismo motor sirve para los siguientes países.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Estabilidad: esperas inteligentes de overlays, sesión persistente, y auto-corrección que lee el mensaje de error del DOM y ajusta el dato (por ejemplo, número de cuenta a 16/18 dígitos o el teléfono con prefijo 573). smart_click hace clics adaptativos. Resultado: ejecuciones repetibles y confiables.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Trazabilidad: durante cada prueba se capturan consola, excepciones JS y errores HTTP con su payload y respuesta, y se genera un cURL reproducible más screenshots y auditoría de DOM. Desarrollo puede reproducir el error sin que QA lo repita.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Ahorro de tiempo (estimado sobre el flujo real): ~80% menos por caso (de ~12 min a ~2.5), ~90% menos para crear un script nuevo, y ejecución desatendida 24/7 en lote y paralelo. Son estimaciones, no medición formal, pero conservadoras.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Cobertura: el número de combinaciones país × pagador × tipo × positivo/negativo crece muy rápido. La automatización las cubre y escala por país sin tocar el motor. Las barras son aproximadas: México ya con amplia cobertura, Colombia en marcha, y los próximos países listos para sumarse.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real KRA-1125: una Validation Rule de Colombia (teléfono debe iniciar con 573 en Depósito), analizada desde Jira con el plugin Prometeo. Se automatizaron 6 pagadores en positivo y negativo; el negativo incluso detecta el rechazo, corrige el dato y reenvía. Muestra cobertura de reglas de negocio, no solo del happy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Ecosistema: se integra con Jira vía el plugin Prometeo (Pandora extrae, Hefesto diseña casos, Otto genera Excel QMetry, Big C documenta el código). Roadmap: completar los tipos de envío restantes, el banco de datos autodescubierto, el módulo Sanity, más países y reglas, y gatear el deploy en CI/CD con las etiquetas.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menos tiempo, más cobertura, más confianza. El agente ya opera por lenguaje natural, es estable y escala por país.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1628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1221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822960" cy="822960"/>
          </a:xfrm>
          <a:prstGeom prst="ellipse">
            <a:avLst/>
          </a:prstGeom>
          <a:solidFill>
            <a:srgbClr val="2BB6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8308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AutomationAgent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de IA para automatización de QA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la plataforma HERMES 2 (Maxi) conducidas por lenguaje natural,</a:t>
            </a:r>
            <a:endParaRPr lang="en-US" sz="1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y datos — más rápido, más estable, mayor cobertura.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 de IA</a:t>
            </a:r>
            <a:r>
              <a:rPr lang="en-US" sz="14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Maxi   ·   Playwright + pytest + POM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manual: lento, repetitivo y frágil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719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06654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envío de dinero se prueba a mano: llenar decenas de campos, país, pagador, tipo… 5–10 min por caso.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48640" cy="54864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862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20954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combinaciones país × pagador × tipo de envío. A mano solo se cubre una fracción.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2BB6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005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Repetición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35254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deploy exige re-validar lo mismo. Trabajo tedioso y propenso a error humano.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548640" cy="548640"/>
          </a:xfrm>
          <a:prstGeom prst="ellipse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4008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48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Fragilidad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549554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de UI rompe scripts frágiles; mantenerlos consume horas.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agente que entiende, ejecuta y aprende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6284A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2BB6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075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Lenguaje natural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dices "manda un envío a Banorte" o "corre la etiqueta KRA-1125" y lo ejecuta.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6284A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583680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583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0" y="2075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Object Model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8368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Selectores y acciones centralizados y reutilizables: robusto y fácil de mantener.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6284A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868680" y="4251960"/>
            <a:ext cx="548640" cy="54864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8686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≣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4224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68680" y="4846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pagadores y países = editar un JSON. Sin grabar, sin reprogramar.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63640" y="393192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6284A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6583680" y="42519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5836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836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↻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0" y="4224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Auto-estable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583680" y="4846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Esperas inteligentes, sesión persistente y auto-corrección de campos.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 por dentro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623060" y="2148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6230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natural del QA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82112" y="233172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202"/>
                </a:solidFill>
              </a:rPr>
              <a:t>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02152" y="192024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485132" y="2148840"/>
            <a:ext cx="548640" cy="548640"/>
          </a:xfrm>
          <a:prstGeom prst="ellipse">
            <a:avLst/>
          </a:prstGeom>
          <a:solidFill>
            <a:srgbClr val="2BB6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48513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02152" y="2788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9312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→ plan de acción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44184" y="233172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202"/>
                </a:solidFill>
              </a:rPr>
              <a:t>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64224" y="192024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7347204" y="2148840"/>
            <a:ext cx="548640" cy="54864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734720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64224" y="2788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1384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pytest + evidencias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06256" y="233172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202"/>
                </a:solidFill>
              </a:rPr>
              <a:t>▶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26296" y="192024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10209276" y="2148840"/>
            <a:ext cx="548640" cy="548640"/>
          </a:xfrm>
          <a:prstGeom prst="ellipse">
            <a:avLst/>
          </a:prstGeom>
          <a:solidFill>
            <a:srgbClr val="0E1B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10209276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26296" y="2788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POM + Playwright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63456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el navegador real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114800"/>
            <a:ext cx="10908792" cy="1737360"/>
          </a:xfrm>
          <a:prstGeom prst="roundRect">
            <a:avLst>
              <a:gd name="adj" fmla="val 4737"/>
            </a:avLst>
          </a:prstGeom>
          <a:solidFill>
            <a:srgbClr val="0E1B33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91440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tecnológica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47091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Playwright (async) · pytest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+ Mixins  ·  catálogos data-driven (payers.json por país)  ·  sesión persistente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autodescubre cada test nuevo — el agente crece sin tocar su código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POM: un solo lugar para cada acción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POM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Selectores repetidos en cada test. Cambia la UI → se rompen 50 pruebas y hay que tocarlas una por una.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5212080" cy="3017520"/>
          </a:xfrm>
          <a:prstGeom prst="roundRect">
            <a:avLst>
              <a:gd name="adj" fmla="val 2727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fill('#phone', ...)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fill('#name', ...)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4251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click('button.send')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754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...repetido en cada test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18288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POM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BasePage centraliza acciones robustas; cada pantalla es un Page Object. Un cambio de UI se arregla en UN lugar.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9360" y="3017520"/>
            <a:ext cx="5212080" cy="3017520"/>
          </a:xfrm>
          <a:prstGeom prst="roundRect">
            <a:avLst>
              <a:gd name="adj" fmla="val 2727"/>
            </a:avLst>
          </a:prstGeom>
          <a:solidFill>
            <a:srgbClr val="0E1B33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583680" y="32004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smart_click()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adaptativo: desambigua y tolera idioma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385876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fill_input_by_testid()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llenado estable para Angular/React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0" y="451713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seleccionar_tipo_envio()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/ Deposit / Home / Mobile / ATM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517550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handle_notifications_modal()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modales intrusivos solo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opera hablándole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2286000"/>
          </a:xfrm>
          <a:prstGeom prst="roundRect">
            <a:avLst>
              <a:gd name="adj" fmla="val 3600"/>
            </a:avLst>
          </a:prstGeom>
          <a:solidFill>
            <a:srgbClr val="0A1428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tú›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 un envío a Banorte en inglés y cancela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71600" y="236829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haz envíos a todos los pagadores de México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71600" y="27706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 la etiqueta KRA-1125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71600" y="31729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analiza los catálogos de Colombia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71600" y="357530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¿qué tipos de envío hay para Colombia?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agente entiende idioma (ES/EN), cancelación, tipo de envío, país y pagador — y decide qué prueba correr.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3520440" cy="1005840"/>
          </a:xfrm>
          <a:prstGeom prst="roundRect">
            <a:avLst>
              <a:gd name="adj" fmla="val 8182"/>
            </a:avLst>
          </a:prstGeom>
          <a:solidFill>
            <a:srgbClr val="16284A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68680" y="5120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API key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5486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offline por memoria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4983480"/>
            <a:ext cx="3520440" cy="1005840"/>
          </a:xfrm>
          <a:prstGeom prst="roundRect">
            <a:avLst>
              <a:gd name="adj" fmla="val 8182"/>
            </a:avLst>
          </a:prstGeom>
          <a:solidFill>
            <a:srgbClr val="16284A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572000" y="5120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+Claude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5486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avanzada opcional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4983480"/>
            <a:ext cx="3520440" cy="1005840"/>
          </a:xfrm>
          <a:prstGeom prst="roundRect">
            <a:avLst>
              <a:gd name="adj" fmla="val 8182"/>
            </a:avLst>
          </a:prstGeom>
          <a:solidFill>
            <a:srgbClr val="16284A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275320" y="5120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5486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test nuevo se suma solo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módulos, un mismo motor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2BB6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Aleatorios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exploratorios con datos random (Faker). Detectan lo inesperado corriendo miles de variantes.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Etiquetas de deploy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36118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ligadas a </a:t>
            </a:r>
            <a:r>
              <a:rPr lang="en-US" sz="1350" dirty="0" err="1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</a:t>
            </a: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Jira. Se automatizan, se ejecutan y si pasan → se libera a producción.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75320" y="36118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General ya operativo: CP01–CP22 automatizados, con envío/pago, cancelación y evidencias.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Crece por país — sin grabar, sin programar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país es un catálogo JSON. Agregar un pagador o un país nuevo = editar datos. El mismo flujo estable se reutiliza.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577840" cy="3566160"/>
          </a:xfrm>
          <a:prstGeom prst="roundRect">
            <a:avLst>
              <a:gd name="adj" fmla="val 2308"/>
            </a:avLst>
          </a:prstGeom>
          <a:solidFill>
            <a:srgbClr val="0E1B33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src/pagadores/colombia/payers.json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"code": "UNITELLER",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3649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"search": "Bancolombia 2",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8039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"phone_prefix": "3",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2428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"fee_type": "COLOMBIA $4",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6817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"id_payment_type": 2,   // Depósito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5120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"payer_city": "BOGOTA" }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2286000"/>
            <a:ext cx="5148072" cy="3566160"/>
          </a:xfrm>
          <a:prstGeom prst="roundRect">
            <a:avLst>
              <a:gd name="adj" fmla="val 230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habilita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292608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y Colombia activos (más países en camino)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pagadores por país, positivos y negativos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tipos de envío: Cash, Deposit, Home, Mobile, ATM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por pagador (prefijo tel, tarifa, cuenta)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un pagador: 6 líneas de JSON — 0 código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ESTABILIDAD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Ejecuciones que no se caen solas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6284A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Esperas inteligentes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a que desaparezcan loaders/overlays; no truena por timing.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6284A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58368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persistente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651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una vez y se reutiliza; el resto de corridas arranca listo.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6284A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68680" y="4206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Auto-corrección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4800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error del DOM y se corrige: nº de cuenta (16/18 dígitos) y teléfono (VR 573).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393192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6284A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583680" y="4206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smart_click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4800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adaptativo: desambigua testids genéricos y tolera cambios de idioma.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Cuando algo falla, queda documentado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pasiva durante toda la prueba. Si hay un error, genera un reporte listo para desarrollo — sin repetir la prueba a mano.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6112" y="25877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96112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587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Consola &amp; JS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y excepciones del front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33172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599432" y="2587752"/>
            <a:ext cx="502920" cy="502920"/>
          </a:xfrm>
          <a:prstGeom prst="ellipse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599432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9432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57800" y="2587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4xx/5xx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3154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método y URL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233172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8302752" y="2587752"/>
            <a:ext cx="502920" cy="50292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302752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02752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61120" y="2587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Payload &amp; respuesta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21040" y="3154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del 500 del backend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896112" y="4370832"/>
            <a:ext cx="502920" cy="502920"/>
          </a:xfrm>
          <a:prstGeom prst="ellipse">
            <a:avLst/>
          </a:prstGeom>
          <a:solidFill>
            <a:srgbClr val="2BB6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896112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96112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54480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4937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listo para reproducir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43400" y="4114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4599432" y="4370832"/>
            <a:ext cx="502920" cy="502920"/>
          </a:xfrm>
          <a:prstGeom prst="ellipse">
            <a:avLst/>
          </a:prstGeom>
          <a:solidFill>
            <a:srgbClr val="0E1B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4599432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99432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257800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617720" y="4937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visual del paso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46720" y="4114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8302752" y="4370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8302752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302752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961120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 DOM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321040" y="4937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testids frágiles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tiempo que se ahorra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16284A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tiempo por caso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840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~12 min manual a ~2.5 min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16284A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526280" y="2194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0" y="32461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para crear un script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840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horas a minutos (JSON / grabar+transpilar)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16284A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229600" y="2194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275320" y="32461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ejecución desatendida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3840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en lote y en paralelo, sin QA presente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Estimaciones basadas en el flujo real de un envío de dinero (llenado + validación + envío/cancelación).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pruebas, más combinaciones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espacio de prueba explota por combinaciones: </a:t>
            </a: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× pagador × tipo de envío × (positivo / negativo)</a:t>
            </a:r>
            <a:r>
              <a:rPr lang="en-US" sz="14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La automatización las cubre; a mano es inviable.</a:t>
            </a:r>
            <a:endParaRPr lang="en-US" sz="14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2377440"/>
          <a:ext cx="6035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949440" y="2468880"/>
            <a:ext cx="4572000" cy="777240"/>
          </a:xfrm>
          <a:prstGeom prst="roundRect">
            <a:avLst>
              <a:gd name="adj" fmla="val 1058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7086600" y="25603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412480" y="2468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pagadores por país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949440" y="3364992"/>
            <a:ext cx="4572000" cy="777240"/>
          </a:xfrm>
          <a:prstGeom prst="roundRect">
            <a:avLst>
              <a:gd name="adj" fmla="val 1058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7086600" y="345643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412480" y="336499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envío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949440" y="4261104"/>
            <a:ext cx="4572000" cy="777240"/>
          </a:xfrm>
          <a:prstGeom prst="roundRect">
            <a:avLst>
              <a:gd name="adj" fmla="val 1058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7086600" y="4352544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412480" y="426110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escenarios: positivo y negativo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949440" y="5157216"/>
            <a:ext cx="4572000" cy="777240"/>
          </a:xfrm>
          <a:prstGeom prst="roundRect">
            <a:avLst>
              <a:gd name="adj" fmla="val 1058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7086600" y="5248656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412480" y="515721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por país sin tocar el motor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KRA-1125 · Validation Rule (Colombia)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1188720"/>
          </a:xfrm>
          <a:prstGeom prst="roundRect">
            <a:avLst>
              <a:gd name="adj" fmla="val 6923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 </a:t>
            </a:r>
            <a:r>
              <a:rPr lang="en-US" sz="14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Depósito a Colombia, el teléfono del beneficiario debe iniciar con </a:t>
            </a:r>
            <a:r>
              <a:rPr lang="en-US" sz="145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573</a:t>
            </a:r>
            <a:r>
              <a:rPr lang="en-US" sz="14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(paridad con Wallet). Analizado desde Jira con el plugin Prometeo.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0E1B33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3XXXXXXXXX → backend ve 573… → sin error → transfiere.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320040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0E1B33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617720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39776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inválido → la regla lo rechaza → el agente lo detecta, corrige y reenvía.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320040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0E1B33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321040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Auto-corrección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21040" y="39776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error del DOM y ajusta el campo por 3 vías (incl. native setter React).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Y FUTURO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ticket a la prueba, y lo que viene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4023360"/>
          </a:xfrm>
          <a:prstGeom prst="roundRect">
            <a:avLst>
              <a:gd name="adj" fmla="val 2045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Jira (plugin Prometeo)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Pandora — extrae el ticket a fondo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Hefesto — diseña casos ISTQB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 — genera Excel para QMetry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C — documenta el código fuente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239512" cy="4023360"/>
          </a:xfrm>
          <a:prstGeom prst="roundRect">
            <a:avLst>
              <a:gd name="adj" fmla="val 2045"/>
            </a:avLst>
          </a:prstGeom>
          <a:solidFill>
            <a:srgbClr val="0E1B33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58368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69748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tipos Home / Móvil / ATM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datos país×pagador×tipo (autodescubierto)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General ✓ (CP01–CP06) + GUI Streamlit para operarlo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países y reglas de negocio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gatear el deploy con las etiquetas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sanity manual, ahora estable y automatizado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Rescatamos el sanity manual (inestable) a un motor estable. CP01–CP22 automatizados, cada uno con su envío/pago, cancelación y evidencias numeradas.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6112" y="25877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96112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587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CP01 · MT Cash + KYC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Adicional estable + cancelación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33172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599432" y="2587752"/>
            <a:ext cx="502920" cy="502920"/>
          </a:xfrm>
          <a:prstGeom prst="ellipse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599432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9432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57800" y="2587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CP02 · OFAC hit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3154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beneficiario sancionado → OFAC Hold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233172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8302752" y="2587752"/>
            <a:ext cx="502920" cy="50292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302752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02752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61120" y="2587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CP03 · Depósito + TDD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21040" y="3154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completo + emulador POS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896112" y="4370832"/>
            <a:ext cx="502920" cy="502920"/>
          </a:xfrm>
          <a:prstGeom prst="ellipse">
            <a:avLst/>
          </a:prstGeom>
          <a:solidFill>
            <a:srgbClr val="2BB6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896112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96112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54480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CP04 · ATM multi-agente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4937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doméstico + doble OFAC + agencia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43400" y="4114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4599432" y="4370832"/>
            <a:ext cx="502920" cy="502920"/>
          </a:xfrm>
          <a:prstGeom prst="ellipse">
            <a:avLst/>
          </a:prstGeom>
          <a:solidFill>
            <a:srgbClr val="0E1B3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4599432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99432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257800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CP05 · Bill Pay Fidelity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617720" y="4937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impresora + cancel confirmado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46720" y="41148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8302752" y="4370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8302752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302752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961120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CP06 · Bill Pay Fiserv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321040" y="4937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 el módulo de bill payment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(GUI)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Streamlit: login Maxi +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2BB6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 General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todo el sanity o un CP puntual, en ambiente Test o Producción.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Transacciones por pagador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36118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 envíos data-driven a cualquier pagador del catálogo, sin código.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4F7FC"/>
          </a:solidFill>
          <a:ln/>
          <a:effectLst>
            <a:outerShdw blurRad="88900" dist="254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de IA (NL)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75320" y="36118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en lenguaje natural: conoce todo el proyecto y ejecuta lo que pidas.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1628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tiempo. Más cobertura. Más confianza.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AutomationAgent lleva las pruebas de HERMES 2 a otro nivel: operado por lenguaje natural, estable, escalable por país y listo para </a:t>
            </a:r>
            <a:r>
              <a:rPr lang="en-US" sz="16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cada deploy.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0"/>
            <a:ext cx="640080" cy="640080"/>
          </a:xfrm>
          <a:prstGeom prst="ellipse">
            <a:avLst/>
          </a:prstGeom>
          <a:solidFill>
            <a:srgbClr val="2BB6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39882" y="4754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r>
              <a:rPr lang="en-US" sz="1400" dirty="0">
                <a:solidFill>
                  <a:srgbClr val="9FB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Foro de IA · Maxi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2194</Words>
  <Application>Microsoft Office PowerPoint</Application>
  <PresentationFormat>Panorámica</PresentationFormat>
  <Paragraphs>270</Paragraphs>
  <Slides>17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Ignacio Antonio García Espinoza</cp:lastModifiedBy>
  <cp:revision>5</cp:revision>
  <dcterms:created xsi:type="dcterms:W3CDTF">2026-07-17T00:33:55Z</dcterms:created>
  <dcterms:modified xsi:type="dcterms:W3CDTF">2026-08-14T17:12:35Z</dcterms:modified>
</cp:coreProperties>
</file>